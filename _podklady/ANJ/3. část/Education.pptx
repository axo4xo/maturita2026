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1" r:id="rId1"/>
  </p:sldMasterIdLst>
  <p:notesMasterIdLst>
    <p:notesMasterId r:id="rId8"/>
  </p:notesMasterIdLst>
  <p:sldIdLst>
    <p:sldId id="263" r:id="rId2"/>
    <p:sldId id="257" r:id="rId3"/>
    <p:sldId id="258" r:id="rId4"/>
    <p:sldId id="262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765-9773-419E-8AA0-0E9768761956}" type="datetimeFigureOut">
              <a:rPr lang="cs-CZ" smtClean="0"/>
              <a:t>06.11.2024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01235-3FC9-495F-8A64-97F046D3177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189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55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89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080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1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83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89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36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39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09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30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09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59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atsuite.collegeboard.org/practice/practice-tests/pape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6E48B2-2801-AF51-4E70-CC1933979C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Education</a:t>
            </a:r>
            <a:r>
              <a:rPr lang="cs-CZ" dirty="0"/>
              <a:t> in CR, UK, USA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A8579EF-CEBB-B4BB-4D69-E87A4795DE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58122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7537" y="0"/>
            <a:ext cx="4717993" cy="1336431"/>
          </a:xfrm>
        </p:spPr>
        <p:txBody>
          <a:bodyPr/>
          <a:lstStyle/>
          <a:p>
            <a:r>
              <a:rPr lang="cs-CZ" dirty="0" err="1"/>
              <a:t>The</a:t>
            </a:r>
            <a:r>
              <a:rPr lang="cs-CZ" dirty="0"/>
              <a:t> Czech Republic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1"/>
          </p:nvPr>
        </p:nvSpPr>
        <p:spPr>
          <a:xfrm>
            <a:off x="456909" y="1233404"/>
            <a:ext cx="6708882" cy="5526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cs-CZ" sz="2000" dirty="0" err="1">
                <a:solidFill>
                  <a:schemeClr val="tx1"/>
                </a:solidFill>
              </a:rPr>
              <a:t>How</a:t>
            </a:r>
            <a:r>
              <a:rPr lang="cs-CZ" sz="2000" dirty="0">
                <a:solidFill>
                  <a:schemeClr val="tx1"/>
                </a:solidFill>
              </a:rPr>
              <a:t> long </a:t>
            </a:r>
            <a:r>
              <a:rPr lang="cs-CZ" sz="2000" dirty="0" err="1">
                <a:solidFill>
                  <a:schemeClr val="tx1"/>
                </a:solidFill>
              </a:rPr>
              <a:t>is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compulsory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education</a:t>
            </a:r>
            <a:r>
              <a:rPr lang="cs-CZ" sz="2000" dirty="0">
                <a:solidFill>
                  <a:schemeClr val="tx1"/>
                </a:solidFill>
              </a:rPr>
              <a:t>?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cs-CZ" sz="2000" i="1" dirty="0"/>
              <a:t> 10 </a:t>
            </a:r>
            <a:r>
              <a:rPr lang="cs-CZ" sz="2000" i="1" dirty="0" err="1"/>
              <a:t>years</a:t>
            </a:r>
            <a:r>
              <a:rPr lang="cs-CZ" sz="2000" i="1" dirty="0"/>
              <a:t> (1 </a:t>
            </a:r>
            <a:r>
              <a:rPr lang="cs-CZ" sz="2000" i="1" dirty="0" err="1"/>
              <a:t>year</a:t>
            </a:r>
            <a:r>
              <a:rPr lang="cs-CZ" sz="2000" i="1" dirty="0"/>
              <a:t> </a:t>
            </a:r>
            <a:r>
              <a:rPr lang="cs-CZ" sz="2000" i="1" dirty="0" err="1"/>
              <a:t>of</a:t>
            </a:r>
            <a:r>
              <a:rPr lang="cs-CZ" sz="2000" i="1" dirty="0"/>
              <a:t> </a:t>
            </a:r>
            <a:r>
              <a:rPr lang="cs-CZ" sz="2000" i="1" dirty="0" err="1"/>
              <a:t>kindergarten</a:t>
            </a:r>
            <a:r>
              <a:rPr lang="cs-CZ" sz="2000" i="1" dirty="0"/>
              <a:t>)</a:t>
            </a:r>
            <a:endParaRPr lang="cs-CZ" sz="2000" i="1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cs-CZ" sz="2000" dirty="0" err="1">
                <a:solidFill>
                  <a:schemeClr val="tx1"/>
                </a:solidFill>
              </a:rPr>
              <a:t>Which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subjects</a:t>
            </a:r>
            <a:r>
              <a:rPr lang="cs-CZ" sz="2000" dirty="0">
                <a:solidFill>
                  <a:schemeClr val="tx1"/>
                </a:solidFill>
              </a:rPr>
              <a:t> are </a:t>
            </a:r>
            <a:r>
              <a:rPr lang="cs-CZ" sz="2000" dirty="0" err="1">
                <a:solidFill>
                  <a:schemeClr val="tx1"/>
                </a:solidFill>
              </a:rPr>
              <a:t>taught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at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primary</a:t>
            </a:r>
            <a:r>
              <a:rPr lang="cs-CZ" sz="2000" dirty="0">
                <a:solidFill>
                  <a:schemeClr val="tx1"/>
                </a:solidFill>
              </a:rPr>
              <a:t>/</a:t>
            </a:r>
            <a:r>
              <a:rPr lang="cs-CZ" sz="2000" dirty="0" err="1">
                <a:solidFill>
                  <a:schemeClr val="tx1"/>
                </a:solidFill>
              </a:rPr>
              <a:t>lower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secondary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level</a:t>
            </a:r>
            <a:r>
              <a:rPr lang="cs-CZ" sz="2000" dirty="0">
                <a:solidFill>
                  <a:schemeClr val="tx1"/>
                </a:solidFill>
              </a:rPr>
              <a:t>?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cs-CZ" sz="2000" i="1" dirty="0"/>
              <a:t>Czech, </a:t>
            </a:r>
            <a:r>
              <a:rPr lang="cs-CZ" sz="2000" i="1" dirty="0" err="1"/>
              <a:t>Maths</a:t>
            </a:r>
            <a:r>
              <a:rPr lang="cs-CZ" sz="2000" i="1" dirty="0"/>
              <a:t>, </a:t>
            </a:r>
            <a:r>
              <a:rPr lang="cs-CZ" sz="2000" i="1" dirty="0" err="1"/>
              <a:t>English</a:t>
            </a:r>
            <a:r>
              <a:rPr lang="cs-CZ" sz="2000" i="1" dirty="0"/>
              <a:t> + 2nd </a:t>
            </a:r>
            <a:r>
              <a:rPr lang="cs-CZ" sz="2000" i="1" dirty="0" err="1"/>
              <a:t>language</a:t>
            </a:r>
            <a:r>
              <a:rPr lang="cs-CZ" sz="2000" i="1" dirty="0"/>
              <a:t>, Biology, </a:t>
            </a:r>
            <a:r>
              <a:rPr lang="cs-CZ" sz="2000" i="1" dirty="0" err="1"/>
              <a:t>Geography</a:t>
            </a:r>
            <a:r>
              <a:rPr lang="cs-CZ" sz="2000" i="1" dirty="0"/>
              <a:t>, </a:t>
            </a:r>
            <a:r>
              <a:rPr lang="cs-CZ" sz="2000" i="1" dirty="0" err="1"/>
              <a:t>History</a:t>
            </a:r>
            <a:r>
              <a:rPr lang="cs-CZ" sz="2000" i="1" dirty="0"/>
              <a:t>, </a:t>
            </a:r>
            <a:r>
              <a:rPr lang="cs-CZ" sz="2000" i="1" dirty="0" err="1"/>
              <a:t>Social</a:t>
            </a:r>
            <a:r>
              <a:rPr lang="cs-CZ" sz="2000" i="1" dirty="0"/>
              <a:t> </a:t>
            </a:r>
            <a:r>
              <a:rPr lang="cs-CZ" sz="2000" i="1" dirty="0" err="1"/>
              <a:t>Sciences</a:t>
            </a:r>
            <a:r>
              <a:rPr lang="cs-CZ" sz="2000" i="1" dirty="0"/>
              <a:t>, Music, Art, </a:t>
            </a:r>
            <a:r>
              <a:rPr lang="cs-CZ" sz="2000" i="1" dirty="0" err="1"/>
              <a:t>Physical</a:t>
            </a:r>
            <a:r>
              <a:rPr lang="cs-CZ" sz="2000" i="1" dirty="0"/>
              <a:t> </a:t>
            </a:r>
            <a:r>
              <a:rPr lang="cs-CZ" sz="2000" i="1" dirty="0" err="1"/>
              <a:t>Education</a:t>
            </a:r>
            <a:r>
              <a:rPr lang="cs-CZ" sz="2000" i="1" dirty="0"/>
              <a:t>, IT…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cs-CZ" sz="2000" dirty="0" err="1">
                <a:solidFill>
                  <a:schemeClr val="tx1"/>
                </a:solidFill>
              </a:rPr>
              <a:t>Which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types</a:t>
            </a:r>
            <a:r>
              <a:rPr lang="cs-CZ" sz="2000" dirty="0">
                <a:solidFill>
                  <a:schemeClr val="tx1"/>
                </a:solidFill>
              </a:rPr>
              <a:t> od </a:t>
            </a:r>
            <a:r>
              <a:rPr lang="cs-CZ" sz="2000" dirty="0" err="1">
                <a:solidFill>
                  <a:schemeClr val="tx1"/>
                </a:solidFill>
              </a:rPr>
              <a:t>secondary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schools</a:t>
            </a:r>
            <a:r>
              <a:rPr lang="cs-CZ" sz="2000" dirty="0">
                <a:solidFill>
                  <a:schemeClr val="tx1"/>
                </a:solidFill>
              </a:rPr>
              <a:t> do </a:t>
            </a:r>
            <a:r>
              <a:rPr lang="cs-CZ" sz="2000" dirty="0" err="1">
                <a:solidFill>
                  <a:schemeClr val="tx1"/>
                </a:solidFill>
              </a:rPr>
              <a:t>you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know</a:t>
            </a:r>
            <a:r>
              <a:rPr lang="cs-CZ" sz="2000" dirty="0">
                <a:solidFill>
                  <a:schemeClr val="tx1"/>
                </a:solidFill>
              </a:rPr>
              <a:t>?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000" i="1" dirty="0" err="1"/>
              <a:t>grammar</a:t>
            </a:r>
            <a:r>
              <a:rPr lang="cs-CZ" sz="2000" i="1" dirty="0"/>
              <a:t> </a:t>
            </a:r>
            <a:r>
              <a:rPr lang="cs-CZ" sz="2000" i="1" dirty="0" err="1"/>
              <a:t>school</a:t>
            </a:r>
            <a:endParaRPr lang="cs-CZ" sz="2000" i="1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000" i="1" dirty="0" err="1"/>
              <a:t>technical</a:t>
            </a:r>
            <a:r>
              <a:rPr lang="cs-CZ" sz="2000" i="1" dirty="0"/>
              <a:t> </a:t>
            </a:r>
            <a:r>
              <a:rPr lang="cs-CZ" sz="2000" i="1" dirty="0" err="1"/>
              <a:t>schools</a:t>
            </a:r>
            <a:r>
              <a:rPr lang="cs-CZ" sz="2000" i="1" dirty="0"/>
              <a:t> (</a:t>
            </a:r>
            <a:r>
              <a:rPr lang="cs-CZ" sz="2000" i="1" dirty="0" err="1"/>
              <a:t>of</a:t>
            </a:r>
            <a:r>
              <a:rPr lang="cs-CZ" sz="2000" i="1" dirty="0"/>
              <a:t> civil, </a:t>
            </a:r>
            <a:r>
              <a:rPr lang="cs-CZ" sz="2000" i="1" dirty="0" err="1"/>
              <a:t>mechanical</a:t>
            </a:r>
            <a:r>
              <a:rPr lang="cs-CZ" sz="2000" i="1" dirty="0"/>
              <a:t>, </a:t>
            </a:r>
            <a:r>
              <a:rPr lang="cs-CZ" sz="2000" i="1" dirty="0" err="1"/>
              <a:t>electrical</a:t>
            </a:r>
            <a:r>
              <a:rPr lang="cs-CZ" sz="2000" i="1" dirty="0"/>
              <a:t>, textile </a:t>
            </a:r>
            <a:r>
              <a:rPr lang="cs-CZ" sz="2000" i="1" dirty="0" err="1"/>
              <a:t>engineering</a:t>
            </a:r>
            <a:r>
              <a:rPr lang="cs-CZ" sz="2000" i="1" dirty="0"/>
              <a:t>), </a:t>
            </a:r>
            <a:r>
              <a:rPr lang="cs-CZ" sz="2000" i="1" dirty="0" err="1"/>
              <a:t>medical</a:t>
            </a:r>
            <a:r>
              <a:rPr lang="cs-CZ" sz="2000" i="1" dirty="0"/>
              <a:t>/</a:t>
            </a:r>
            <a:r>
              <a:rPr lang="cs-CZ" sz="2000" i="1" dirty="0" err="1"/>
              <a:t>health</a:t>
            </a:r>
            <a:r>
              <a:rPr lang="cs-CZ" sz="2000" i="1" dirty="0"/>
              <a:t> care, </a:t>
            </a:r>
            <a:r>
              <a:rPr lang="cs-CZ" sz="2000" i="1" dirty="0" err="1"/>
              <a:t>economy</a:t>
            </a:r>
            <a:r>
              <a:rPr lang="cs-CZ" sz="2000" i="1" dirty="0"/>
              <a:t>, </a:t>
            </a:r>
            <a:r>
              <a:rPr lang="cs-CZ" sz="2000" i="1" dirty="0" err="1"/>
              <a:t>arts</a:t>
            </a:r>
            <a:r>
              <a:rPr lang="cs-CZ" sz="2000" i="1" dirty="0"/>
              <a:t>…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000" i="1" dirty="0" err="1"/>
              <a:t>vocational</a:t>
            </a:r>
            <a:r>
              <a:rPr lang="cs-CZ" sz="2000" i="1" dirty="0"/>
              <a:t> </a:t>
            </a:r>
            <a:r>
              <a:rPr lang="cs-CZ" sz="2000" i="1" dirty="0" err="1"/>
              <a:t>schools</a:t>
            </a:r>
            <a:endParaRPr lang="cs-CZ" sz="2000" i="1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cs-CZ" sz="2000" dirty="0" err="1">
                <a:solidFill>
                  <a:schemeClr val="tx1"/>
                </a:solidFill>
              </a:rPr>
              <a:t>Which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subjects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does</a:t>
            </a:r>
            <a:r>
              <a:rPr lang="cs-CZ" sz="2000" dirty="0">
                <a:solidFill>
                  <a:schemeClr val="tx1"/>
                </a:solidFill>
              </a:rPr>
              <a:t> "maturita" </a:t>
            </a:r>
            <a:r>
              <a:rPr lang="cs-CZ" sz="2000" b="1" dirty="0">
                <a:solidFill>
                  <a:schemeClr val="tx1"/>
                </a:solidFill>
              </a:rPr>
              <a:t>(= </a:t>
            </a:r>
            <a:r>
              <a:rPr lang="cs-CZ" sz="2000" b="1" dirty="0" err="1">
                <a:solidFill>
                  <a:schemeClr val="tx1"/>
                </a:solidFill>
              </a:rPr>
              <a:t>school</a:t>
            </a:r>
            <a:r>
              <a:rPr lang="cs-CZ" sz="2000" b="1" dirty="0">
                <a:solidFill>
                  <a:schemeClr val="tx1"/>
                </a:solidFill>
              </a:rPr>
              <a:t> </a:t>
            </a:r>
            <a:r>
              <a:rPr lang="cs-CZ" sz="2000" b="1" dirty="0" err="1">
                <a:solidFill>
                  <a:schemeClr val="tx1"/>
                </a:solidFill>
              </a:rPr>
              <a:t>leaving</a:t>
            </a:r>
            <a:r>
              <a:rPr lang="cs-CZ" sz="2000" b="1" dirty="0">
                <a:solidFill>
                  <a:schemeClr val="tx1"/>
                </a:solidFill>
              </a:rPr>
              <a:t> </a:t>
            </a:r>
            <a:r>
              <a:rPr lang="cs-CZ" sz="2000" b="1" dirty="0" err="1">
                <a:solidFill>
                  <a:schemeClr val="tx1"/>
                </a:solidFill>
              </a:rPr>
              <a:t>exam</a:t>
            </a:r>
            <a:r>
              <a:rPr lang="cs-CZ" sz="2000" dirty="0">
                <a:solidFill>
                  <a:schemeClr val="tx1"/>
                </a:solidFill>
              </a:rPr>
              <a:t>) </a:t>
            </a:r>
            <a:r>
              <a:rPr lang="cs-CZ" sz="2000" dirty="0" err="1">
                <a:solidFill>
                  <a:schemeClr val="tx1"/>
                </a:solidFill>
              </a:rPr>
              <a:t>consist</a:t>
            </a:r>
            <a:r>
              <a:rPr lang="cs-CZ" sz="2000" dirty="0">
                <a:solidFill>
                  <a:schemeClr val="tx1"/>
                </a:solidFill>
              </a:rPr>
              <a:t> </a:t>
            </a:r>
            <a:r>
              <a:rPr lang="cs-CZ" sz="2000" dirty="0" err="1">
                <a:solidFill>
                  <a:schemeClr val="tx1"/>
                </a:solidFill>
              </a:rPr>
              <a:t>of</a:t>
            </a:r>
            <a:r>
              <a:rPr lang="cs-CZ" sz="2000" dirty="0">
                <a:solidFill>
                  <a:schemeClr val="tx1"/>
                </a:solidFill>
              </a:rPr>
              <a:t>?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cs-CZ" sz="2000" i="1" dirty="0"/>
              <a:t>Czech, </a:t>
            </a:r>
            <a:r>
              <a:rPr lang="cs-CZ" sz="2000" i="1" dirty="0" err="1"/>
              <a:t>Maths</a:t>
            </a:r>
            <a:r>
              <a:rPr lang="cs-CZ" sz="2000" i="1" dirty="0"/>
              <a:t> OR a </a:t>
            </a:r>
            <a:r>
              <a:rPr lang="cs-CZ" sz="2000" i="1" dirty="0" err="1"/>
              <a:t>foreign</a:t>
            </a:r>
            <a:r>
              <a:rPr lang="cs-CZ" sz="2000" i="1" dirty="0"/>
              <a:t> </a:t>
            </a:r>
            <a:r>
              <a:rPr lang="cs-CZ" sz="2000" i="1" dirty="0" err="1"/>
              <a:t>language</a:t>
            </a:r>
            <a:r>
              <a:rPr lang="cs-CZ" sz="2000" i="1" dirty="0"/>
              <a:t> + </a:t>
            </a:r>
            <a:r>
              <a:rPr lang="cs-CZ" sz="2000" i="1" dirty="0" err="1"/>
              <a:t>subjects</a:t>
            </a:r>
            <a:r>
              <a:rPr lang="cs-CZ" sz="2000" i="1" dirty="0"/>
              <a:t> </a:t>
            </a:r>
            <a:r>
              <a:rPr lang="cs-CZ" sz="2000" i="1" dirty="0" err="1"/>
              <a:t>connected</a:t>
            </a:r>
            <a:r>
              <a:rPr lang="cs-CZ" sz="2000" i="1" dirty="0"/>
              <a:t> to </a:t>
            </a:r>
            <a:r>
              <a:rPr lang="cs-CZ" sz="2000" i="1" dirty="0" err="1"/>
              <a:t>the</a:t>
            </a:r>
            <a:r>
              <a:rPr lang="cs-CZ" sz="2000" i="1" dirty="0"/>
              <a:t> type </a:t>
            </a:r>
            <a:r>
              <a:rPr lang="cs-CZ" sz="2000" i="1" dirty="0" err="1"/>
              <a:t>of</a:t>
            </a:r>
            <a:r>
              <a:rPr lang="cs-CZ" sz="2000" i="1" dirty="0"/>
              <a:t> </a:t>
            </a:r>
            <a:r>
              <a:rPr lang="cs-CZ" sz="2000" i="1" dirty="0" err="1"/>
              <a:t>school</a:t>
            </a:r>
            <a:r>
              <a:rPr lang="cs-CZ" sz="2000" i="1" dirty="0"/>
              <a:t> </a:t>
            </a:r>
            <a:r>
              <a:rPr lang="cs-CZ" sz="2000" i="1" dirty="0" err="1"/>
              <a:t>students</a:t>
            </a:r>
            <a:r>
              <a:rPr lang="cs-CZ" sz="2000" i="1" dirty="0"/>
              <a:t> study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cs-CZ" sz="2000" dirty="0">
              <a:solidFill>
                <a:schemeClr val="tx1"/>
              </a:solidFill>
            </a:endParaRP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419" y="258251"/>
            <a:ext cx="4430007" cy="6340579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02DBB210-F956-E00F-F2C6-53C64487B476}"/>
              </a:ext>
            </a:extLst>
          </p:cNvPr>
          <p:cNvSpPr txBox="1"/>
          <p:nvPr/>
        </p:nvSpPr>
        <p:spPr>
          <a:xfrm>
            <a:off x="9043557" y="4656842"/>
            <a:ext cx="168414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Elementary</a:t>
            </a:r>
            <a:r>
              <a:rPr lang="cs-CZ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schools</a:t>
            </a:r>
            <a:endParaRPr lang="cs-CZ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03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4598877" cy="1088107"/>
          </a:xfrm>
        </p:spPr>
        <p:txBody>
          <a:bodyPr>
            <a:normAutofit fontScale="90000"/>
          </a:bodyPr>
          <a:lstStyle/>
          <a:p>
            <a:r>
              <a:rPr lang="cs-CZ" dirty="0" err="1"/>
              <a:t>The</a:t>
            </a:r>
            <a:r>
              <a:rPr lang="cs-CZ" dirty="0"/>
              <a:t> United </a:t>
            </a:r>
            <a:r>
              <a:rPr lang="cs-CZ" dirty="0" err="1"/>
              <a:t>Kingdom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3" y="1678075"/>
            <a:ext cx="5068166" cy="3932732"/>
          </a:xfrm>
        </p:spPr>
      </p:pic>
      <p:sp>
        <p:nvSpPr>
          <p:cNvPr id="5" name="Zástupný symbol pro obsah 4"/>
          <p:cNvSpPr>
            <a:spLocks noGrp="1"/>
          </p:cNvSpPr>
          <p:nvPr>
            <p:ph sz="half" idx="2"/>
          </p:nvPr>
        </p:nvSpPr>
        <p:spPr>
          <a:xfrm>
            <a:off x="5780217" y="1125416"/>
            <a:ext cx="6297902" cy="483096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800" dirty="0" err="1">
                <a:solidFill>
                  <a:schemeClr val="tx1"/>
                </a:solidFill>
              </a:rPr>
              <a:t>state</a:t>
            </a:r>
            <a:r>
              <a:rPr lang="cs-CZ" sz="2800" dirty="0">
                <a:solidFill>
                  <a:schemeClr val="tx1"/>
                </a:solidFill>
              </a:rPr>
              <a:t> x public (independent, </a:t>
            </a:r>
            <a:r>
              <a:rPr lang="cs-CZ" sz="2800" dirty="0" err="1">
                <a:solidFill>
                  <a:schemeClr val="tx1"/>
                </a:solidFill>
              </a:rPr>
              <a:t>private</a:t>
            </a:r>
            <a:r>
              <a:rPr lang="cs-CZ" sz="2800" dirty="0">
                <a:solidFill>
                  <a:schemeClr val="tx1"/>
                </a:solidFill>
              </a:rPr>
              <a:t>) </a:t>
            </a:r>
            <a:r>
              <a:rPr lang="cs-CZ" sz="2800" dirty="0" err="1">
                <a:solidFill>
                  <a:schemeClr val="tx1"/>
                </a:solidFill>
              </a:rPr>
              <a:t>schools</a:t>
            </a:r>
            <a:endParaRPr lang="cs-CZ" sz="2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2800" b="1" dirty="0" err="1">
                <a:solidFill>
                  <a:schemeClr val="tx1"/>
                </a:solidFill>
              </a:rPr>
              <a:t>Compulsory</a:t>
            </a:r>
            <a:r>
              <a:rPr lang="cs-CZ" sz="2800" b="1" dirty="0">
                <a:solidFill>
                  <a:schemeClr val="tx1"/>
                </a:solidFill>
              </a:rPr>
              <a:t> </a:t>
            </a:r>
            <a:r>
              <a:rPr lang="cs-CZ" sz="2800" b="1" dirty="0" err="1">
                <a:solidFill>
                  <a:schemeClr val="tx1"/>
                </a:solidFill>
              </a:rPr>
              <a:t>education</a:t>
            </a:r>
            <a:r>
              <a:rPr lang="cs-CZ" sz="2800" b="1" dirty="0">
                <a:solidFill>
                  <a:schemeClr val="tx1"/>
                </a:solidFill>
              </a:rPr>
              <a:t>: </a:t>
            </a:r>
            <a:r>
              <a:rPr lang="cs-CZ" sz="2800" dirty="0" err="1">
                <a:solidFill>
                  <a:schemeClr val="tx1"/>
                </a:solidFill>
              </a:rPr>
              <a:t>age</a:t>
            </a:r>
            <a:r>
              <a:rPr lang="cs-CZ" sz="2800" dirty="0">
                <a:solidFill>
                  <a:schemeClr val="tx1"/>
                </a:solidFill>
              </a:rPr>
              <a:t> 5–16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800" b="1" dirty="0">
                <a:solidFill>
                  <a:schemeClr val="tx1"/>
                </a:solidFill>
              </a:rPr>
              <a:t>GCSE:</a:t>
            </a:r>
            <a:r>
              <a:rPr lang="cs-CZ" sz="2800" dirty="0">
                <a:solidFill>
                  <a:schemeClr val="tx1"/>
                </a:solidFill>
              </a:rPr>
              <a:t> 8–9 </a:t>
            </a:r>
            <a:r>
              <a:rPr lang="cs-CZ" sz="2800" dirty="0" err="1">
                <a:solidFill>
                  <a:schemeClr val="tx1"/>
                </a:solidFill>
              </a:rPr>
              <a:t>subjects</a:t>
            </a:r>
            <a:r>
              <a:rPr lang="cs-CZ" sz="2800" dirty="0">
                <a:solidFill>
                  <a:schemeClr val="tx1"/>
                </a:solidFill>
              </a:rPr>
              <a:t> (</a:t>
            </a:r>
            <a:r>
              <a:rPr lang="cs-CZ" sz="2800" dirty="0" err="1">
                <a:solidFill>
                  <a:schemeClr val="tx1"/>
                </a:solidFill>
              </a:rPr>
              <a:t>at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the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age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of</a:t>
            </a:r>
            <a:r>
              <a:rPr lang="cs-CZ" sz="2800" dirty="0">
                <a:solidFill>
                  <a:schemeClr val="tx1"/>
                </a:solidFill>
              </a:rPr>
              <a:t> 16)</a:t>
            </a:r>
          </a:p>
          <a:p>
            <a:pPr marL="45720" indent="0">
              <a:buNone/>
            </a:pPr>
            <a:r>
              <a:rPr lang="cs-CZ" sz="2400" i="1" dirty="0">
                <a:solidFill>
                  <a:schemeClr val="tx1"/>
                </a:solidFill>
              </a:rPr>
              <a:t>= General </a:t>
            </a:r>
            <a:r>
              <a:rPr lang="cs-CZ" sz="2400" i="1" dirty="0" err="1">
                <a:solidFill>
                  <a:schemeClr val="tx1"/>
                </a:solidFill>
              </a:rPr>
              <a:t>Certificate</a:t>
            </a:r>
            <a:r>
              <a:rPr lang="cs-CZ" sz="2400" i="1" dirty="0">
                <a:solidFill>
                  <a:schemeClr val="tx1"/>
                </a:solidFill>
              </a:rPr>
              <a:t> </a:t>
            </a:r>
            <a:r>
              <a:rPr lang="cs-CZ" sz="2400" i="1" dirty="0" err="1">
                <a:solidFill>
                  <a:schemeClr val="tx1"/>
                </a:solidFill>
              </a:rPr>
              <a:t>of</a:t>
            </a:r>
            <a:r>
              <a:rPr lang="cs-CZ" sz="2400" i="1" dirty="0">
                <a:solidFill>
                  <a:schemeClr val="tx1"/>
                </a:solidFill>
              </a:rPr>
              <a:t> </a:t>
            </a:r>
            <a:r>
              <a:rPr lang="cs-CZ" sz="2400" i="1" dirty="0" err="1">
                <a:solidFill>
                  <a:schemeClr val="tx1"/>
                </a:solidFill>
              </a:rPr>
              <a:t>Secondary</a:t>
            </a:r>
            <a:r>
              <a:rPr lang="cs-CZ" sz="2400" i="1" dirty="0">
                <a:solidFill>
                  <a:schemeClr val="tx1"/>
                </a:solidFill>
              </a:rPr>
              <a:t> </a:t>
            </a:r>
            <a:r>
              <a:rPr lang="cs-CZ" sz="2400" i="1" dirty="0" err="1">
                <a:solidFill>
                  <a:schemeClr val="tx1"/>
                </a:solidFill>
              </a:rPr>
              <a:t>Education</a:t>
            </a:r>
            <a:r>
              <a:rPr lang="cs-CZ" sz="2400" i="1" dirty="0">
                <a:solidFill>
                  <a:schemeClr val="tx1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800" b="1" dirty="0">
                <a:solidFill>
                  <a:schemeClr val="tx1"/>
                </a:solidFill>
              </a:rPr>
              <a:t>A-</a:t>
            </a:r>
            <a:r>
              <a:rPr lang="cs-CZ" sz="2800" b="1" dirty="0" err="1">
                <a:solidFill>
                  <a:schemeClr val="tx1"/>
                </a:solidFill>
              </a:rPr>
              <a:t>levels</a:t>
            </a:r>
            <a:r>
              <a:rPr lang="cs-CZ" sz="2800" b="1" dirty="0">
                <a:solidFill>
                  <a:schemeClr val="tx1"/>
                </a:solidFill>
              </a:rPr>
              <a:t>:</a:t>
            </a:r>
            <a:r>
              <a:rPr lang="cs-CZ" sz="2800" dirty="0">
                <a:solidFill>
                  <a:schemeClr val="tx1"/>
                </a:solidFill>
              </a:rPr>
              <a:t> 3–4 </a:t>
            </a:r>
            <a:r>
              <a:rPr lang="cs-CZ" sz="2800" dirty="0" err="1">
                <a:solidFill>
                  <a:schemeClr val="tx1"/>
                </a:solidFill>
              </a:rPr>
              <a:t>subjects</a:t>
            </a:r>
            <a:r>
              <a:rPr lang="cs-CZ" sz="2800" dirty="0">
                <a:solidFill>
                  <a:schemeClr val="tx1"/>
                </a:solidFill>
              </a:rPr>
              <a:t> (</a:t>
            </a:r>
            <a:r>
              <a:rPr lang="cs-CZ" sz="2800" dirty="0" err="1">
                <a:solidFill>
                  <a:schemeClr val="tx1"/>
                </a:solidFill>
              </a:rPr>
              <a:t>at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the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age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of</a:t>
            </a:r>
            <a:r>
              <a:rPr lang="cs-CZ" sz="2800" dirty="0">
                <a:solidFill>
                  <a:schemeClr val="tx1"/>
                </a:solidFill>
              </a:rPr>
              <a:t> 18)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800" b="1" dirty="0" err="1">
                <a:solidFill>
                  <a:schemeClr val="tx1"/>
                </a:solidFill>
              </a:rPr>
              <a:t>Tertiary</a:t>
            </a:r>
            <a:r>
              <a:rPr lang="cs-CZ" sz="2800" b="1" dirty="0">
                <a:solidFill>
                  <a:schemeClr val="tx1"/>
                </a:solidFill>
              </a:rPr>
              <a:t> </a:t>
            </a:r>
            <a:r>
              <a:rPr lang="cs-CZ" sz="2800" b="1" dirty="0" err="1">
                <a:solidFill>
                  <a:schemeClr val="tx1"/>
                </a:solidFill>
              </a:rPr>
              <a:t>level</a:t>
            </a:r>
            <a:r>
              <a:rPr lang="cs-CZ" sz="2800" b="1" dirty="0">
                <a:solidFill>
                  <a:schemeClr val="tx1"/>
                </a:solidFill>
              </a:rPr>
              <a:t> </a:t>
            </a:r>
            <a:r>
              <a:rPr lang="cs-CZ" sz="2800" dirty="0">
                <a:solidFill>
                  <a:schemeClr val="tx1"/>
                </a:solidFill>
              </a:rPr>
              <a:t>– study </a:t>
            </a:r>
            <a:r>
              <a:rPr lang="cs-CZ" sz="2800" dirty="0" err="1">
                <a:solidFill>
                  <a:schemeClr val="tx1"/>
                </a:solidFill>
              </a:rPr>
              <a:t>for</a:t>
            </a:r>
            <a:r>
              <a:rPr lang="cs-CZ" sz="2800" dirty="0">
                <a:solidFill>
                  <a:schemeClr val="tx1"/>
                </a:solidFill>
              </a:rPr>
              <a:t> a </a:t>
            </a:r>
            <a:r>
              <a:rPr lang="cs-CZ" sz="2800" dirty="0" err="1">
                <a:solidFill>
                  <a:schemeClr val="tx1"/>
                </a:solidFill>
              </a:rPr>
              <a:t>degree</a:t>
            </a:r>
            <a:r>
              <a:rPr lang="cs-CZ" sz="2800" dirty="0">
                <a:solidFill>
                  <a:schemeClr val="tx1"/>
                </a:solidFill>
              </a:rPr>
              <a:t>, </a:t>
            </a:r>
            <a:r>
              <a:rPr lang="cs-CZ" sz="2800" b="1" dirty="0" err="1">
                <a:solidFill>
                  <a:schemeClr val="tx1"/>
                </a:solidFill>
              </a:rPr>
              <a:t>college</a:t>
            </a:r>
            <a:r>
              <a:rPr lang="cs-CZ" sz="2800" b="1" dirty="0">
                <a:solidFill>
                  <a:schemeClr val="tx1"/>
                </a:solidFill>
              </a:rPr>
              <a:t> </a:t>
            </a:r>
            <a:r>
              <a:rPr lang="cs-CZ" sz="2800" dirty="0">
                <a:solidFill>
                  <a:schemeClr val="tx1"/>
                </a:solidFill>
              </a:rPr>
              <a:t>(more </a:t>
            </a:r>
            <a:r>
              <a:rPr lang="cs-CZ" sz="2800" dirty="0" err="1">
                <a:solidFill>
                  <a:schemeClr val="tx1"/>
                </a:solidFill>
              </a:rPr>
              <a:t>technically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focused</a:t>
            </a:r>
            <a:r>
              <a:rPr lang="cs-CZ" sz="2800" dirty="0">
                <a:solidFill>
                  <a:schemeClr val="tx1"/>
                </a:solidFill>
              </a:rPr>
              <a:t>)/ </a:t>
            </a:r>
            <a:r>
              <a:rPr lang="cs-CZ" sz="2800" b="1" dirty="0">
                <a:solidFill>
                  <a:schemeClr val="tx1"/>
                </a:solidFill>
              </a:rPr>
              <a:t>university</a:t>
            </a:r>
            <a:r>
              <a:rPr lang="cs-CZ" sz="2800" dirty="0">
                <a:solidFill>
                  <a:schemeClr val="tx1"/>
                </a:solidFill>
              </a:rPr>
              <a:t> (</a:t>
            </a:r>
            <a:r>
              <a:rPr lang="cs-CZ" sz="2800" dirty="0" err="1">
                <a:solidFill>
                  <a:schemeClr val="tx1"/>
                </a:solidFill>
              </a:rPr>
              <a:t>pay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for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tuition</a:t>
            </a:r>
            <a:r>
              <a:rPr lang="cs-CZ" sz="2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603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DE7DCD-5CEE-4246-4F8F-06B1372F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GCSEs</a:t>
            </a:r>
            <a:r>
              <a:rPr lang="cs-CZ" dirty="0"/>
              <a:t> </a:t>
            </a:r>
            <a:r>
              <a:rPr lang="cs-CZ" dirty="0" err="1"/>
              <a:t>example</a:t>
            </a:r>
            <a:r>
              <a:rPr lang="cs-CZ" dirty="0"/>
              <a:t> </a:t>
            </a:r>
            <a:r>
              <a:rPr lang="cs-CZ" dirty="0" err="1"/>
              <a:t>questions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214BB3-E504-F4BA-7DD1-6922372A3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cs-CZ" b="1" dirty="0" err="1">
                <a:solidFill>
                  <a:schemeClr val="tx1"/>
                </a:solidFill>
              </a:rPr>
              <a:t>Economics</a:t>
            </a:r>
            <a:endParaRPr lang="cs-CZ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Is it ethical for developing countries, such as China, to aim for rapid economic growth?</a:t>
            </a:r>
            <a:endParaRPr lang="cs-CZ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cs-CZ" b="1" dirty="0" err="1">
                <a:solidFill>
                  <a:schemeClr val="tx1"/>
                </a:solidFill>
              </a:rPr>
              <a:t>Geography</a:t>
            </a:r>
            <a:endParaRPr lang="cs-CZ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For a hot desert environment </a:t>
            </a:r>
            <a:r>
              <a:rPr lang="en-US" i="1" dirty="0">
                <a:solidFill>
                  <a:schemeClr val="tx1"/>
                </a:solidFill>
              </a:rPr>
              <a:t>or</a:t>
            </a:r>
            <a:r>
              <a:rPr lang="en-US" dirty="0">
                <a:solidFill>
                  <a:schemeClr val="tx1"/>
                </a:solidFill>
              </a:rPr>
              <a:t> cold environment you have studied, to what extent does that environment provide both opportunities and challenges for development?</a:t>
            </a:r>
            <a:endParaRPr lang="cs-CZ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cs-CZ" b="1" dirty="0">
                <a:solidFill>
                  <a:schemeClr val="tx1"/>
                </a:solidFill>
              </a:rPr>
              <a:t>Media </a:t>
            </a:r>
            <a:r>
              <a:rPr lang="cs-CZ" b="1" dirty="0" err="1">
                <a:solidFill>
                  <a:schemeClr val="tx1"/>
                </a:solidFill>
              </a:rPr>
              <a:t>Studies</a:t>
            </a:r>
            <a:endParaRPr lang="cs-CZ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People working behind the scenes in media production need to be creative. Give an example of a media production role and explain two different ways this role needs creativity.</a:t>
            </a:r>
            <a:endParaRPr lang="cs-C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99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776608"/>
          </a:xfrm>
        </p:spPr>
        <p:txBody>
          <a:bodyPr>
            <a:normAutofit/>
          </a:bodyPr>
          <a:lstStyle/>
          <a:p>
            <a:r>
              <a:rPr lang="cs-CZ" dirty="0" err="1"/>
              <a:t>The</a:t>
            </a:r>
            <a:r>
              <a:rPr lang="cs-CZ" dirty="0"/>
              <a:t> United </a:t>
            </a:r>
            <a:r>
              <a:rPr lang="cs-CZ" dirty="0" err="1"/>
              <a:t>States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America</a:t>
            </a:r>
          </a:p>
        </p:txBody>
      </p:sp>
      <p:pic>
        <p:nvPicPr>
          <p:cNvPr id="5" name="Zástupný symbol pro obsah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56" y="1048937"/>
            <a:ext cx="3754902" cy="5449931"/>
          </a:xfrm>
        </p:spPr>
      </p:pic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414387" y="1370484"/>
            <a:ext cx="6623538" cy="473475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800" u="sng" dirty="0" err="1">
                <a:solidFill>
                  <a:schemeClr val="tx1"/>
                </a:solidFill>
              </a:rPr>
              <a:t>federal</a:t>
            </a:r>
            <a:r>
              <a:rPr lang="cs-CZ" sz="2800" u="sng" dirty="0">
                <a:solidFill>
                  <a:schemeClr val="tx1"/>
                </a:solidFill>
              </a:rPr>
              <a:t> </a:t>
            </a:r>
            <a:r>
              <a:rPr lang="cs-CZ" sz="2800" u="sng" dirty="0" err="1">
                <a:solidFill>
                  <a:schemeClr val="tx1"/>
                </a:solidFill>
              </a:rPr>
              <a:t>laws</a:t>
            </a:r>
            <a:r>
              <a:rPr lang="cs-CZ" sz="2800" u="sng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all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states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have</a:t>
            </a:r>
            <a:r>
              <a:rPr lang="cs-CZ" sz="2800" dirty="0">
                <a:solidFill>
                  <a:schemeClr val="tx1"/>
                </a:solidFill>
              </a:rPr>
              <a:t> to </a:t>
            </a:r>
            <a:r>
              <a:rPr lang="cs-CZ" sz="2800" dirty="0" err="1">
                <a:solidFill>
                  <a:schemeClr val="tx1"/>
                </a:solidFill>
              </a:rPr>
              <a:t>follow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b="1" dirty="0">
                <a:solidFill>
                  <a:schemeClr val="tx1"/>
                </a:solidFill>
              </a:rPr>
              <a:t>X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u="sng" dirty="0" err="1">
                <a:solidFill>
                  <a:schemeClr val="tx1"/>
                </a:solidFill>
              </a:rPr>
              <a:t>local</a:t>
            </a:r>
            <a:r>
              <a:rPr lang="cs-CZ" sz="2800" u="sng" dirty="0">
                <a:solidFill>
                  <a:schemeClr val="tx1"/>
                </a:solidFill>
              </a:rPr>
              <a:t> </a:t>
            </a:r>
            <a:r>
              <a:rPr lang="cs-CZ" sz="2800" u="sng" dirty="0" err="1">
                <a:solidFill>
                  <a:schemeClr val="tx1"/>
                </a:solidFill>
              </a:rPr>
              <a:t>laws</a:t>
            </a:r>
            <a:r>
              <a:rPr lang="cs-CZ" sz="2800" u="sng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different</a:t>
            </a:r>
            <a:r>
              <a:rPr lang="cs-CZ" sz="2800" dirty="0">
                <a:solidFill>
                  <a:schemeClr val="tx1"/>
                </a:solidFill>
              </a:rPr>
              <a:t> in </a:t>
            </a:r>
            <a:r>
              <a:rPr lang="cs-CZ" sz="2800" dirty="0" err="1">
                <a:solidFill>
                  <a:schemeClr val="tx1"/>
                </a:solidFill>
              </a:rPr>
              <a:t>each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state</a:t>
            </a:r>
            <a:endParaRPr lang="cs-CZ" sz="2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2800" b="1" dirty="0" err="1">
                <a:solidFill>
                  <a:schemeClr val="tx1"/>
                </a:solidFill>
              </a:rPr>
              <a:t>Compulsory</a:t>
            </a:r>
            <a:r>
              <a:rPr lang="cs-CZ" sz="2800" b="1" dirty="0">
                <a:solidFill>
                  <a:schemeClr val="tx1"/>
                </a:solidFill>
              </a:rPr>
              <a:t> </a:t>
            </a:r>
            <a:r>
              <a:rPr lang="cs-CZ" sz="2800" b="1" dirty="0" err="1">
                <a:solidFill>
                  <a:schemeClr val="tx1"/>
                </a:solidFill>
              </a:rPr>
              <a:t>education</a:t>
            </a:r>
            <a:r>
              <a:rPr lang="cs-CZ" sz="2800" b="1" dirty="0">
                <a:solidFill>
                  <a:schemeClr val="tx1"/>
                </a:solidFill>
              </a:rPr>
              <a:t>: </a:t>
            </a:r>
            <a:r>
              <a:rPr lang="cs-CZ" sz="2800" dirty="0">
                <a:solidFill>
                  <a:schemeClr val="tx1"/>
                </a:solidFill>
              </a:rPr>
              <a:t>12 </a:t>
            </a:r>
            <a:r>
              <a:rPr lang="cs-CZ" sz="2800" dirty="0" err="1">
                <a:solidFill>
                  <a:schemeClr val="tx1"/>
                </a:solidFill>
              </a:rPr>
              <a:t>grades</a:t>
            </a:r>
            <a:r>
              <a:rPr lang="cs-CZ" sz="2800" dirty="0">
                <a:solidFill>
                  <a:schemeClr val="tx1"/>
                </a:solidFill>
              </a:rPr>
              <a:t> (5 -17)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800" b="1" dirty="0" err="1">
                <a:solidFill>
                  <a:schemeClr val="tx1"/>
                </a:solidFill>
              </a:rPr>
              <a:t>High</a:t>
            </a:r>
            <a:r>
              <a:rPr lang="cs-CZ" sz="2800" b="1" dirty="0">
                <a:solidFill>
                  <a:schemeClr val="tx1"/>
                </a:solidFill>
              </a:rPr>
              <a:t> </a:t>
            </a:r>
            <a:r>
              <a:rPr lang="cs-CZ" sz="2800" b="1" dirty="0" err="1">
                <a:solidFill>
                  <a:schemeClr val="tx1"/>
                </a:solidFill>
              </a:rPr>
              <a:t>school</a:t>
            </a:r>
            <a:r>
              <a:rPr lang="cs-CZ" sz="2800" b="1" dirty="0">
                <a:solidFill>
                  <a:schemeClr val="tx1"/>
                </a:solidFill>
              </a:rPr>
              <a:t>: </a:t>
            </a:r>
            <a:r>
              <a:rPr lang="cs-CZ" sz="2800" dirty="0" err="1">
                <a:solidFill>
                  <a:schemeClr val="tx1"/>
                </a:solidFill>
              </a:rPr>
              <a:t>choice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of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subjects</a:t>
            </a:r>
            <a:r>
              <a:rPr lang="cs-CZ" sz="2800" dirty="0">
                <a:solidFill>
                  <a:schemeClr val="tx1"/>
                </a:solidFill>
              </a:rPr>
              <a:t> and </a:t>
            </a:r>
            <a:r>
              <a:rPr lang="cs-CZ" sz="2800" dirty="0" err="1">
                <a:solidFill>
                  <a:schemeClr val="tx1"/>
                </a:solidFill>
              </a:rPr>
              <a:t>level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of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subjects</a:t>
            </a:r>
            <a:r>
              <a:rPr lang="cs-CZ" sz="2800" dirty="0">
                <a:solidFill>
                  <a:schemeClr val="tx1"/>
                </a:solidFill>
              </a:rPr>
              <a:t> (</a:t>
            </a:r>
            <a:r>
              <a:rPr lang="cs-CZ" sz="2800" dirty="0" err="1">
                <a:solidFill>
                  <a:schemeClr val="tx1"/>
                </a:solidFill>
              </a:rPr>
              <a:t>academic</a:t>
            </a:r>
            <a:r>
              <a:rPr lang="cs-CZ" sz="2800" dirty="0">
                <a:solidFill>
                  <a:schemeClr val="tx1"/>
                </a:solidFill>
              </a:rPr>
              <a:t> + </a:t>
            </a:r>
            <a:r>
              <a:rPr lang="cs-CZ" sz="2800" dirty="0" err="1">
                <a:solidFill>
                  <a:schemeClr val="tx1"/>
                </a:solidFill>
              </a:rPr>
              <a:t>vocational</a:t>
            </a:r>
            <a:r>
              <a:rPr lang="cs-CZ" sz="2800" dirty="0">
                <a:solidFill>
                  <a:schemeClr val="tx1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800" b="1" dirty="0">
                <a:solidFill>
                  <a:schemeClr val="tx1"/>
                </a:solidFill>
              </a:rPr>
              <a:t>Grade 11</a:t>
            </a:r>
            <a:r>
              <a:rPr lang="cs-CZ" sz="2800" dirty="0">
                <a:solidFill>
                  <a:schemeClr val="tx1"/>
                </a:solidFill>
              </a:rPr>
              <a:t>: </a:t>
            </a:r>
            <a:r>
              <a:rPr lang="cs-CZ" sz="2800" dirty="0">
                <a:solidFill>
                  <a:schemeClr val="tx1"/>
                </a:solidFill>
                <a:hlinkClick r:id="rId3"/>
              </a:rPr>
              <a:t>SAT test </a:t>
            </a:r>
            <a:r>
              <a:rPr lang="cs-CZ" sz="2400" i="1" dirty="0">
                <a:solidFill>
                  <a:schemeClr val="tx1"/>
                </a:solidFill>
              </a:rPr>
              <a:t>(= </a:t>
            </a:r>
            <a:r>
              <a:rPr lang="cs-CZ" sz="2400" i="1" dirty="0" err="1">
                <a:solidFill>
                  <a:schemeClr val="tx1"/>
                </a:solidFill>
              </a:rPr>
              <a:t>Scholastic</a:t>
            </a:r>
            <a:r>
              <a:rPr lang="cs-CZ" sz="2400" i="1" dirty="0">
                <a:solidFill>
                  <a:schemeClr val="tx1"/>
                </a:solidFill>
              </a:rPr>
              <a:t> </a:t>
            </a:r>
            <a:r>
              <a:rPr lang="cs-CZ" sz="2400" i="1" dirty="0" err="1">
                <a:solidFill>
                  <a:schemeClr val="tx1"/>
                </a:solidFill>
              </a:rPr>
              <a:t>Aptitude</a:t>
            </a:r>
            <a:r>
              <a:rPr lang="cs-CZ" sz="2400" i="1" dirty="0">
                <a:solidFill>
                  <a:schemeClr val="tx1"/>
                </a:solidFill>
              </a:rPr>
              <a:t> Test </a:t>
            </a:r>
            <a:r>
              <a:rPr lang="cs-CZ" sz="2800" dirty="0">
                <a:solidFill>
                  <a:schemeClr val="tx1"/>
                </a:solidFill>
              </a:rPr>
              <a:t>- </a:t>
            </a:r>
            <a:r>
              <a:rPr lang="cs-CZ" sz="2800" dirty="0" err="1">
                <a:solidFill>
                  <a:schemeClr val="tx1"/>
                </a:solidFill>
              </a:rPr>
              <a:t>language</a:t>
            </a:r>
            <a:r>
              <a:rPr lang="cs-CZ" sz="2800" dirty="0">
                <a:solidFill>
                  <a:schemeClr val="tx1"/>
                </a:solidFill>
              </a:rPr>
              <a:t>, </a:t>
            </a:r>
            <a:r>
              <a:rPr lang="cs-CZ" sz="2800" dirty="0" err="1">
                <a:solidFill>
                  <a:schemeClr val="tx1"/>
                </a:solidFill>
              </a:rPr>
              <a:t>writing</a:t>
            </a:r>
            <a:r>
              <a:rPr lang="cs-CZ" sz="2800" dirty="0">
                <a:solidFill>
                  <a:schemeClr val="tx1"/>
                </a:solidFill>
              </a:rPr>
              <a:t>, </a:t>
            </a:r>
            <a:r>
              <a:rPr lang="cs-CZ" sz="2800" dirty="0" err="1">
                <a:solidFill>
                  <a:schemeClr val="tx1"/>
                </a:solidFill>
              </a:rPr>
              <a:t>maths</a:t>
            </a:r>
            <a:r>
              <a:rPr lang="cs-CZ" sz="2800" dirty="0">
                <a:solidFill>
                  <a:schemeClr val="tx1"/>
                </a:solidFill>
              </a:rPr>
              <a:t>, </a:t>
            </a:r>
            <a:r>
              <a:rPr lang="cs-CZ" sz="2800" dirty="0" err="1">
                <a:solidFill>
                  <a:schemeClr val="tx1"/>
                </a:solidFill>
              </a:rPr>
              <a:t>critical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thinking</a:t>
            </a:r>
            <a:r>
              <a:rPr lang="cs-CZ" sz="2800" dirty="0">
                <a:solidFill>
                  <a:schemeClr val="tx1"/>
                </a:solidFill>
              </a:rPr>
              <a:t> …), </a:t>
            </a:r>
            <a:r>
              <a:rPr lang="cs-CZ" sz="2800" b="1" dirty="0">
                <a:solidFill>
                  <a:schemeClr val="tx1"/>
                </a:solidFill>
              </a:rPr>
              <a:t>part </a:t>
            </a:r>
            <a:r>
              <a:rPr lang="cs-CZ" sz="2800" b="1" dirty="0" err="1">
                <a:solidFill>
                  <a:schemeClr val="tx1"/>
                </a:solidFill>
              </a:rPr>
              <a:t>of</a:t>
            </a:r>
            <a:r>
              <a:rPr lang="cs-CZ" sz="2800" b="1" dirty="0">
                <a:solidFill>
                  <a:schemeClr val="tx1"/>
                </a:solidFill>
              </a:rPr>
              <a:t> admitance </a:t>
            </a:r>
            <a:r>
              <a:rPr lang="cs-CZ" sz="2800" b="1" dirty="0" err="1">
                <a:solidFill>
                  <a:schemeClr val="tx1"/>
                </a:solidFill>
              </a:rPr>
              <a:t>policy</a:t>
            </a:r>
            <a:r>
              <a:rPr lang="cs-CZ" sz="2800" b="1" dirty="0">
                <a:solidFill>
                  <a:schemeClr val="tx1"/>
                </a:solidFill>
              </a:rPr>
              <a:t> </a:t>
            </a:r>
            <a:r>
              <a:rPr lang="cs-CZ" sz="2800" dirty="0">
                <a:solidFill>
                  <a:schemeClr val="tx1"/>
                </a:solidFill>
              </a:rPr>
              <a:t>to university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800" b="1" dirty="0">
                <a:solidFill>
                  <a:schemeClr val="tx1"/>
                </a:solidFill>
              </a:rPr>
              <a:t>End </a:t>
            </a:r>
            <a:r>
              <a:rPr lang="cs-CZ" sz="2800" b="1" dirty="0" err="1">
                <a:solidFill>
                  <a:schemeClr val="tx1"/>
                </a:solidFill>
              </a:rPr>
              <a:t>of</a:t>
            </a:r>
            <a:r>
              <a:rPr lang="cs-CZ" sz="2800" b="1" dirty="0">
                <a:solidFill>
                  <a:schemeClr val="tx1"/>
                </a:solidFill>
              </a:rPr>
              <a:t> grade 12: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high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school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diploma</a:t>
            </a:r>
            <a:r>
              <a:rPr lang="cs-CZ" sz="2800" dirty="0">
                <a:solidFill>
                  <a:schemeClr val="tx1"/>
                </a:solidFill>
              </a:rPr>
              <a:t> + </a:t>
            </a:r>
            <a:r>
              <a:rPr lang="cs-CZ" sz="2800" dirty="0" err="1">
                <a:solidFill>
                  <a:schemeClr val="tx1"/>
                </a:solidFill>
              </a:rPr>
              <a:t>graduation</a:t>
            </a:r>
            <a:r>
              <a:rPr lang="cs-CZ" sz="2800" dirty="0">
                <a:solidFill>
                  <a:schemeClr val="tx1"/>
                </a:solidFill>
              </a:rPr>
              <a:t> </a:t>
            </a:r>
            <a:r>
              <a:rPr lang="cs-CZ" sz="2800" dirty="0" err="1">
                <a:solidFill>
                  <a:schemeClr val="tx1"/>
                </a:solidFill>
              </a:rPr>
              <a:t>ceremony</a:t>
            </a:r>
            <a:endParaRPr lang="cs-CZ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09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ovéPole 8"/>
          <p:cNvSpPr txBox="1"/>
          <p:nvPr/>
        </p:nvSpPr>
        <p:spPr>
          <a:xfrm>
            <a:off x="371790" y="256191"/>
            <a:ext cx="366764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cs-CZ" sz="2000" dirty="0"/>
              <a:t>povinný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volitelný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školní docházka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základní škola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střední škola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gymnázium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střední odborná škola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učiliště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učeň</a:t>
            </a:r>
          </a:p>
          <a:p>
            <a:pPr>
              <a:lnSpc>
                <a:spcPct val="150000"/>
              </a:lnSpc>
            </a:pPr>
            <a:r>
              <a:rPr lang="cs-CZ" sz="2000" dirty="0" err="1"/>
              <a:t>obchodka</a:t>
            </a:r>
            <a:endParaRPr lang="cs-CZ" sz="2000" dirty="0"/>
          </a:p>
          <a:p>
            <a:pPr>
              <a:lnSpc>
                <a:spcPct val="150000"/>
              </a:lnSpc>
            </a:pPr>
            <a:r>
              <a:rPr lang="cs-CZ" sz="2000" dirty="0"/>
              <a:t>umělecká škola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přijímací zkoušky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maturita</a:t>
            </a:r>
          </a:p>
          <a:p>
            <a:endParaRPr lang="cs-CZ" dirty="0"/>
          </a:p>
        </p:txBody>
      </p:sp>
      <p:sp>
        <p:nvSpPr>
          <p:cNvPr id="10" name="TextovéPole 9"/>
          <p:cNvSpPr txBox="1"/>
          <p:nvPr/>
        </p:nvSpPr>
        <p:spPr>
          <a:xfrm>
            <a:off x="6182501" y="256191"/>
            <a:ext cx="3519183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cs-CZ" sz="2000" dirty="0"/>
              <a:t>dělat zkoušky – udělat zkoušky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dosáhnout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hlásit se na (univerzitu)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školka/jesle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školné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semestr/pololetí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vysvědčení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humanitní předměty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přírodovědné předměty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diplomová práce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titul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titul bakalář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titul magistr</a:t>
            </a:r>
          </a:p>
          <a:p>
            <a:pPr>
              <a:lnSpc>
                <a:spcPct val="150000"/>
              </a:lnSpc>
            </a:pPr>
            <a:r>
              <a:rPr lang="cs-CZ" sz="2000" dirty="0"/>
              <a:t>titul inženýr</a:t>
            </a:r>
          </a:p>
          <a:p>
            <a:pPr>
              <a:lnSpc>
                <a:spcPct val="150000"/>
              </a:lnSpc>
            </a:pPr>
            <a:endParaRPr lang="cs-CZ" sz="2000" dirty="0"/>
          </a:p>
        </p:txBody>
      </p:sp>
      <p:sp>
        <p:nvSpPr>
          <p:cNvPr id="12" name="TextovéPole 11"/>
          <p:cNvSpPr txBox="1"/>
          <p:nvPr/>
        </p:nvSpPr>
        <p:spPr>
          <a:xfrm>
            <a:off x="3117253" y="256191"/>
            <a:ext cx="310041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cs-CZ" sz="2000" i="1" dirty="0" err="1"/>
              <a:t>compulsory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optional</a:t>
            </a:r>
            <a:r>
              <a:rPr lang="cs-CZ" sz="2000" i="1" dirty="0"/>
              <a:t>/</a:t>
            </a:r>
            <a:r>
              <a:rPr lang="cs-CZ" sz="2000" i="1" dirty="0" err="1"/>
              <a:t>voluntary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school</a:t>
            </a:r>
            <a:r>
              <a:rPr lang="cs-CZ" sz="2000" i="1" dirty="0"/>
              <a:t> </a:t>
            </a:r>
            <a:r>
              <a:rPr lang="cs-CZ" sz="2000" i="1" dirty="0" err="1"/>
              <a:t>attendance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primary</a:t>
            </a:r>
            <a:r>
              <a:rPr lang="cs-CZ" sz="2000" i="1" dirty="0"/>
              <a:t>/</a:t>
            </a:r>
            <a:r>
              <a:rPr lang="cs-CZ" sz="2000" i="1" dirty="0" err="1"/>
              <a:t>elementary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secondary</a:t>
            </a:r>
            <a:r>
              <a:rPr lang="cs-CZ" sz="2000" i="1" dirty="0"/>
              <a:t>/</a:t>
            </a:r>
            <a:r>
              <a:rPr lang="cs-CZ" sz="2000" i="1" dirty="0" err="1"/>
              <a:t>high</a:t>
            </a:r>
            <a:r>
              <a:rPr lang="cs-CZ" sz="2000" i="1" dirty="0"/>
              <a:t>/</a:t>
            </a:r>
            <a:r>
              <a:rPr lang="cs-CZ" sz="2000" i="1" dirty="0" err="1"/>
              <a:t>middle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grammar</a:t>
            </a:r>
            <a:r>
              <a:rPr lang="cs-CZ" sz="2000" i="1" dirty="0"/>
              <a:t> </a:t>
            </a:r>
            <a:r>
              <a:rPr lang="cs-CZ" sz="2000" i="1" dirty="0" err="1"/>
              <a:t>school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secondary</a:t>
            </a:r>
            <a:r>
              <a:rPr lang="cs-CZ" sz="2000" i="1" dirty="0"/>
              <a:t> </a:t>
            </a:r>
            <a:r>
              <a:rPr lang="cs-CZ" sz="2000" i="1" dirty="0" err="1"/>
              <a:t>technical</a:t>
            </a:r>
            <a:r>
              <a:rPr lang="cs-CZ" sz="2000" i="1" dirty="0"/>
              <a:t> </a:t>
            </a:r>
            <a:r>
              <a:rPr lang="cs-CZ" sz="2000" i="1" dirty="0" err="1"/>
              <a:t>school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vocational</a:t>
            </a:r>
            <a:r>
              <a:rPr lang="cs-CZ" sz="2000" i="1" dirty="0"/>
              <a:t> </a:t>
            </a:r>
            <a:r>
              <a:rPr lang="cs-CZ" sz="2000" i="1" dirty="0" err="1"/>
              <a:t>school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apprentice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school</a:t>
            </a:r>
            <a:r>
              <a:rPr lang="cs-CZ" sz="2000" i="1" dirty="0"/>
              <a:t> </a:t>
            </a:r>
            <a:r>
              <a:rPr lang="cs-CZ" sz="2000" i="1" dirty="0" err="1"/>
              <a:t>of</a:t>
            </a:r>
            <a:r>
              <a:rPr lang="cs-CZ" sz="2000" i="1" dirty="0"/>
              <a:t> </a:t>
            </a:r>
            <a:r>
              <a:rPr lang="cs-CZ" sz="2000" i="1" dirty="0" err="1"/>
              <a:t>commerce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/>
              <a:t>art </a:t>
            </a:r>
            <a:r>
              <a:rPr lang="cs-CZ" sz="2000" i="1" dirty="0" err="1"/>
              <a:t>school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entrance</a:t>
            </a:r>
            <a:r>
              <a:rPr lang="cs-CZ" sz="2000" i="1" dirty="0"/>
              <a:t> </a:t>
            </a:r>
            <a:r>
              <a:rPr lang="cs-CZ" sz="2000" i="1" dirty="0" err="1"/>
              <a:t>exams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school</a:t>
            </a:r>
            <a:r>
              <a:rPr lang="cs-CZ" sz="2000" i="1" dirty="0"/>
              <a:t> </a:t>
            </a:r>
            <a:r>
              <a:rPr lang="cs-CZ" sz="2000" i="1" dirty="0" err="1"/>
              <a:t>leaving</a:t>
            </a:r>
            <a:r>
              <a:rPr lang="cs-CZ" sz="2000" i="1" dirty="0"/>
              <a:t> </a:t>
            </a:r>
            <a:r>
              <a:rPr lang="cs-CZ" sz="2000" i="1" dirty="0" err="1"/>
              <a:t>exan</a:t>
            </a:r>
            <a:endParaRPr lang="cs-CZ" sz="2000" i="1" dirty="0"/>
          </a:p>
          <a:p>
            <a:pPr>
              <a:lnSpc>
                <a:spcPct val="150000"/>
              </a:lnSpc>
            </a:pPr>
            <a:endParaRPr lang="cs-CZ" sz="2000" dirty="0"/>
          </a:p>
          <a:p>
            <a:pPr>
              <a:lnSpc>
                <a:spcPct val="150000"/>
              </a:lnSpc>
            </a:pPr>
            <a:endParaRPr lang="cs-CZ" sz="2000" dirty="0"/>
          </a:p>
        </p:txBody>
      </p:sp>
      <p:sp>
        <p:nvSpPr>
          <p:cNvPr id="13" name="TextovéPole 12"/>
          <p:cNvSpPr txBox="1"/>
          <p:nvPr/>
        </p:nvSpPr>
        <p:spPr>
          <a:xfrm>
            <a:off x="9701684" y="236094"/>
            <a:ext cx="276664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cs-CZ" sz="2000" i="1" dirty="0" err="1"/>
              <a:t>take</a:t>
            </a:r>
            <a:r>
              <a:rPr lang="cs-CZ" sz="2000" i="1" dirty="0"/>
              <a:t> – </a:t>
            </a:r>
            <a:r>
              <a:rPr lang="cs-CZ" sz="2000" i="1" dirty="0" err="1"/>
              <a:t>pass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achieve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apply</a:t>
            </a:r>
            <a:r>
              <a:rPr lang="cs-CZ" sz="2000" i="1" dirty="0"/>
              <a:t> </a:t>
            </a:r>
            <a:r>
              <a:rPr lang="cs-CZ" sz="2000" i="1" dirty="0" err="1"/>
              <a:t>for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kindergarten</a:t>
            </a:r>
            <a:r>
              <a:rPr lang="cs-CZ" sz="2000" i="1" dirty="0"/>
              <a:t>/</a:t>
            </a:r>
            <a:r>
              <a:rPr lang="cs-CZ" sz="2000" i="1" dirty="0" err="1"/>
              <a:t>nursery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tuition</a:t>
            </a:r>
            <a:r>
              <a:rPr lang="cs-CZ" sz="2000" i="1" dirty="0"/>
              <a:t> </a:t>
            </a:r>
            <a:r>
              <a:rPr lang="cs-CZ" sz="2000" i="1" dirty="0" err="1"/>
              <a:t>fee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/>
              <a:t>term</a:t>
            </a:r>
          </a:p>
          <a:p>
            <a:pPr>
              <a:lnSpc>
                <a:spcPct val="150000"/>
              </a:lnSpc>
            </a:pPr>
            <a:r>
              <a:rPr lang="cs-CZ" sz="2000" i="1" dirty="0" err="1"/>
              <a:t>school</a:t>
            </a:r>
            <a:r>
              <a:rPr lang="cs-CZ" sz="2000" i="1" dirty="0"/>
              <a:t> report</a:t>
            </a:r>
          </a:p>
          <a:p>
            <a:pPr>
              <a:lnSpc>
                <a:spcPct val="150000"/>
              </a:lnSpc>
            </a:pPr>
            <a:r>
              <a:rPr lang="cs-CZ" sz="2000" i="1" dirty="0" err="1"/>
              <a:t>arts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sciences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diploma</a:t>
            </a:r>
            <a:r>
              <a:rPr lang="cs-CZ" sz="2000" i="1" dirty="0"/>
              <a:t> thesis</a:t>
            </a:r>
          </a:p>
          <a:p>
            <a:pPr>
              <a:lnSpc>
                <a:spcPct val="150000"/>
              </a:lnSpc>
            </a:pPr>
            <a:r>
              <a:rPr lang="cs-CZ" sz="2000" i="1" dirty="0" err="1"/>
              <a:t>degree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Bachelor‘s</a:t>
            </a:r>
            <a:r>
              <a:rPr lang="cs-CZ" sz="2000" i="1" dirty="0"/>
              <a:t> </a:t>
            </a:r>
            <a:r>
              <a:rPr lang="cs-CZ" sz="2000" i="1" dirty="0" err="1"/>
              <a:t>degree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Master‘s</a:t>
            </a:r>
            <a:r>
              <a:rPr lang="cs-CZ" sz="2000" i="1" dirty="0"/>
              <a:t> </a:t>
            </a:r>
            <a:r>
              <a:rPr lang="cs-CZ" sz="2000" i="1" dirty="0" err="1"/>
              <a:t>degree</a:t>
            </a:r>
            <a:endParaRPr lang="cs-CZ" sz="2000" i="1" dirty="0"/>
          </a:p>
          <a:p>
            <a:pPr>
              <a:lnSpc>
                <a:spcPct val="150000"/>
              </a:lnSpc>
            </a:pPr>
            <a:r>
              <a:rPr lang="cs-CZ" sz="2000" i="1" dirty="0" err="1"/>
              <a:t>Engineer‘s</a:t>
            </a:r>
            <a:r>
              <a:rPr lang="cs-CZ" sz="2000" i="1" dirty="0"/>
              <a:t> </a:t>
            </a:r>
            <a:r>
              <a:rPr lang="cs-CZ" sz="2000" i="1" dirty="0" err="1"/>
              <a:t>degree</a:t>
            </a:r>
            <a:endParaRPr lang="cs-CZ" sz="2000" i="1" dirty="0"/>
          </a:p>
        </p:txBody>
      </p:sp>
    </p:spTree>
    <p:extLst>
      <p:ext uri="{BB962C8B-B14F-4D97-AF65-F5344CB8AC3E}">
        <p14:creationId xmlns:p14="http://schemas.microsoft.com/office/powerpoint/2010/main" val="350953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Základ">
  <a:themeElements>
    <a:clrScheme name="Základ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Zákla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Základ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B627AD01521F54CB6E4915E48F45540" ma:contentTypeVersion="10" ma:contentTypeDescription="Vytvoří nový dokument" ma:contentTypeScope="" ma:versionID="41bc266fd2e14b6e8942c0843177c50e">
  <xsd:schema xmlns:xsd="http://www.w3.org/2001/XMLSchema" xmlns:xs="http://www.w3.org/2001/XMLSchema" xmlns:p="http://schemas.microsoft.com/office/2006/metadata/properties" xmlns:ns2="5da9ddad-e6a8-4239-90de-4a2fcdd35e45" xmlns:ns3="f910b825-5579-4b21-9130-ac3042ad8389" targetNamespace="http://schemas.microsoft.com/office/2006/metadata/properties" ma:root="true" ma:fieldsID="54ce64db601552214058499d93f0bcdf" ns2:_="" ns3:_="">
    <xsd:import namespace="5da9ddad-e6a8-4239-90de-4a2fcdd35e45"/>
    <xsd:import namespace="f910b825-5579-4b21-9130-ac3042ad8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9ddad-e6a8-4239-90de-4a2fcdd35e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a9be5ed3-f240-4bcb-bcea-c1e07b23b7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0b825-5579-4b21-9130-ac3042ad838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479c4f9-a29d-44a1-ba03-81d1f3d82090}" ma:internalName="TaxCatchAll" ma:showField="CatchAllData" ma:web="f910b825-5579-4b21-9130-ac3042ad83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a9ddad-e6a8-4239-90de-4a2fcdd35e45">
      <Terms xmlns="http://schemas.microsoft.com/office/infopath/2007/PartnerControls"/>
    </lcf76f155ced4ddcb4097134ff3c332f>
    <TaxCatchAll xmlns="f910b825-5579-4b21-9130-ac3042ad8389" xsi:nil="true"/>
  </documentManagement>
</p:properties>
</file>

<file path=customXml/itemProps1.xml><?xml version="1.0" encoding="utf-8"?>
<ds:datastoreItem xmlns:ds="http://schemas.openxmlformats.org/officeDocument/2006/customXml" ds:itemID="{0DF4C195-4BE1-4FD6-820B-44EDC1BA70EA}"/>
</file>

<file path=customXml/itemProps2.xml><?xml version="1.0" encoding="utf-8"?>
<ds:datastoreItem xmlns:ds="http://schemas.openxmlformats.org/officeDocument/2006/customXml" ds:itemID="{6A9D419C-A7DA-4BE8-B1D8-4FBDEAFC93A3}"/>
</file>

<file path=customXml/itemProps3.xml><?xml version="1.0" encoding="utf-8"?>
<ds:datastoreItem xmlns:ds="http://schemas.openxmlformats.org/officeDocument/2006/customXml" ds:itemID="{70146F93-3E9D-4790-8129-930233F1232F}"/>
</file>

<file path=docProps/app.xml><?xml version="1.0" encoding="utf-8"?>
<Properties xmlns="http://schemas.openxmlformats.org/officeDocument/2006/extended-properties" xmlns:vt="http://schemas.openxmlformats.org/officeDocument/2006/docPropsVTypes">
  <Template>Základna</Template>
  <TotalTime>2439</TotalTime>
  <Words>475</Words>
  <Application>Microsoft Office PowerPoint</Application>
  <PresentationFormat>Širokoúhlá obrazovka</PresentationFormat>
  <Paragraphs>87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Calibri</vt:lpstr>
      <vt:lpstr>Corbel</vt:lpstr>
      <vt:lpstr>Times New Roman</vt:lpstr>
      <vt:lpstr>Základ</vt:lpstr>
      <vt:lpstr>Education in CR, UK, USA</vt:lpstr>
      <vt:lpstr>The Czech Republic</vt:lpstr>
      <vt:lpstr>The United Kingdom</vt:lpstr>
      <vt:lpstr>GCSEs example questions</vt:lpstr>
      <vt:lpstr>The United States of America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in CR, UK, USA</dc:title>
  <dc:creator>Eva Poláková</dc:creator>
  <cp:lastModifiedBy>Kristýna Šírová</cp:lastModifiedBy>
  <cp:revision>28</cp:revision>
  <dcterms:created xsi:type="dcterms:W3CDTF">2020-04-05T20:26:38Z</dcterms:created>
  <dcterms:modified xsi:type="dcterms:W3CDTF">2024-11-06T10:56:17Z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0x0101000B627AD01521F54CB6E4915E48F45540</vt:lpwstr>
  </property>
</Properties>
</file>